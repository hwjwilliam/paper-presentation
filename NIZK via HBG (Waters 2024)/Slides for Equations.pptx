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4"/>
  </p:normalViewPr>
  <p:slideViewPr>
    <p:cSldViewPr snapToGrid="0">
      <p:cViewPr varScale="1">
        <p:scale>
          <a:sx n="114" d="100"/>
          <a:sy n="114" d="100"/>
        </p:scale>
        <p:origin x="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4621-4051-AD6C-498D-7B2599468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A4DE6-D246-0683-CAC2-DDDDA40FB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BBA24-0314-69AB-9AC8-ED3239D2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D85C-F8C1-6DA1-819E-2FC91130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1E3D8-AB95-9C9F-98E1-5ED76213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69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6C52-BA3C-BD6A-A134-DFFC68D6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B2676-E759-25B6-F1F3-664B2BCB1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E17B7-1A70-20B6-4062-4F1DFE5C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84A46-938D-6AFA-042C-5851C591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8BCB6-0D5A-7976-9337-A26D0813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131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5837-5981-223C-5091-7BE26FC9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B1005-A352-E7B7-AE3A-22BAC583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607FE-F50C-5210-DC2B-06FDD1DFC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858CB-7F9A-1BF1-D902-B0C9F5C0A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DEC5B-64AD-3619-038B-4E06EB705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ACDA-BE2A-495F-CBC7-268C8F6B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AEAC9-4994-7A72-5061-3AEF4E226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FB92C-EA07-C082-82BD-0E513CA61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AE005-FD1D-B311-8FE9-F965E405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CDD3A-1FEA-2C95-AEA4-69CC64E8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9469D-7AB2-6BCD-8E8A-459E75C9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62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795C-A1EB-2584-2E65-C4346557F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496D-B9D7-22AD-F6CF-DFC710B4B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05322-A691-173B-6476-33428C58B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E2DE6-D2E6-C57C-9B2F-DE42BE09F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F6E9C-CA63-CA73-60FF-237DB4EAB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C8622-8EAE-FDA8-E75C-BEEED968C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DA1B37-4E7E-4F90-440C-5797508B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BE44A-5C59-195E-9955-B9815D93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26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873E-2FBA-9FC5-F136-E02E8BE6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75D30-A740-2FF8-2D2B-7061F509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04C2E-825B-AA77-EEB9-6F14CB74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EA2B4-F1A7-24CA-6686-67B568D8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32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D0A90-B763-E0EB-269D-6EDEBB20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A87DA-1E3D-E94B-DBEB-910C104B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ED893-FA2E-D485-AB40-07A90C31B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369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06F84-43ED-2B44-1959-54F2AB67D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7B534-B661-3848-3D86-A8802F1BE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74B68-90E4-E9CC-B2A0-547B2D5AF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43BC8-DB4A-9161-4881-BEB7EA22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68298-433E-440A-BF29-E9E3BCFA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69850-3F07-55A8-0147-65C25CA9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57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F8DA-565A-8A5E-AE09-355A9213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D732C4-4FF2-A138-0363-CBE9FACEE0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A5117-9CC6-D124-AB98-166E65C04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38A15-4E53-4D43-E87C-2BF2718E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BA552-9FDC-421C-B6B0-A72FA2A4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E0F66-57BE-D4D1-6539-D8DEE74E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193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BA3F-D51E-DA5C-FC3D-F153A07E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64C64-CA4E-6095-E62A-C86B969E3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AD121-90C9-D632-4C65-FF73B59F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282A6-054F-E8F2-76E5-F97C466B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809F5-3267-5AEE-C8E6-53238056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02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1D89E-4999-EA4B-03F7-9EF31275F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36DDC-E22A-FDE6-8120-E3B2163B7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46273-7621-60EC-A919-241761FE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84DB3-A7F7-D646-A724-7E992E5A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34876-6695-92AD-33CA-877D2E89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612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EACF45-ED6D-6512-C061-AA44A7814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FF68A-978D-A98D-E918-F23257477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D7422-ED68-8D14-3570-7285E755C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1C8EB-4D61-3943-A032-80115CAACD43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3E985-27D2-BE52-62C8-94E8A8615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ECDE2-8EB7-9DFC-6548-6C5694F7F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089C1-FBAB-8F42-9C21-98E7901E8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41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1B06-C8D8-1C62-2CD6-AEA90AA7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151C02-ACE1-FB41-9740-6D4697B9CC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𝐻𝐵𝐺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GB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𝑆𝑒𝑡𝑢𝑝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(1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𝑐𝑟𝑠</m:t>
                    </m:r>
                  </m:oMath>
                </a14:m>
                <a:endParaRPr lang="en-GB" sz="2000" dirty="0"/>
              </a:p>
              <a:p>
                <a:pPr lvl="2"/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1800" dirty="0"/>
                  <a:t> security parameter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1800" dirty="0"/>
                  <a:t> length parameter</a:t>
                </a:r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𝐺𝑒𝑛𝐵𝑖𝑡𝑠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𝑐𝑟𝑠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𝑐𝑜𝑚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), 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lvl="2"/>
                <a14:m>
                  <m:oMath xmlns:m="http://schemas.openxmlformats.org/officeDocument/2006/math">
                    <m:r>
                      <a:rPr lang="en-GB" sz="18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1800" dirty="0"/>
                  <a:t> k bit string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𝑐𝑜𝑚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1800" b="0" i="1" dirty="0">
                    <a:latin typeface="Cambria Math" panose="02040503050406030204" pitchFamily="18" charset="0"/>
                  </a:rPr>
                  <a:t> </a:t>
                </a:r>
                <a:r>
                  <a:rPr lang="en-GB" sz="1800" dirty="0">
                    <a:latin typeface="Cambria Math" panose="02040503050406030204" pitchFamily="18" charset="0"/>
                  </a:rPr>
                  <a:t>commitment of </a:t>
                </a:r>
                <a14:m>
                  <m:oMath xmlns:m="http://schemas.openxmlformats.org/officeDocument/2006/math">
                    <m:r>
                      <a:rPr lang="en-GB" sz="18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GB" sz="1800" b="1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1800" dirty="0"/>
                  <a:t> opening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𝑉𝑒𝑟𝑖𝑓𝑦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𝑐𝑟𝑠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sz="2000" b="0" dirty="0"/>
              </a:p>
              <a:p>
                <a:pPr lvl="2"/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m:rPr>
                        <m:lit/>
                      </m:rPr>
                      <a:rPr lang="en-GB" sz="18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0, 1</m:t>
                    </m:r>
                    <m:r>
                      <m:rPr>
                        <m:lit/>
                      </m:rPr>
                      <a:rPr lang="en-GB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1800" dirty="0"/>
              </a:p>
              <a:p>
                <a:pPr lvl="2"/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𝑉𝑒𝑟𝑖𝑓𝑦</m:t>
                    </m:r>
                  </m:oMath>
                </a14:m>
                <a:r>
                  <a:rPr lang="en-GB" sz="1800" dirty="0"/>
                  <a:t> outputs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1800" dirty="0"/>
                  <a:t> if using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sz="1800" dirty="0"/>
                  <a:t> index of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𝑐𝑜𝑚</m:t>
                    </m:r>
                  </m:oMath>
                </a14:m>
                <a:r>
                  <a:rPr lang="en-GB" sz="1800" dirty="0"/>
                  <a:t> opens to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. 0</m:t>
                    </m:r>
                  </m:oMath>
                </a14:m>
                <a:r>
                  <a:rPr lang="en-GB" sz="1800" dirty="0"/>
                  <a:t> otherwise. 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151C02-ACE1-FB41-9740-6D4697B9CC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7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68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86CE8-7C5C-D5F1-4B05-1F562207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54E95C7-F6B2-9BC7-DD05-44AFB13819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79864"/>
                <a:ext cx="10515600" cy="59130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000" b="1" dirty="0"/>
                  <a:t>Correctness:</a:t>
                </a:r>
                <a:r>
                  <a:rPr lang="en-GB" sz="2000" dirty="0"/>
                  <a:t> for 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𝑉𝑒𝑟𝑖𝑓𝑦</m:t>
                              </m:r>
                              <m:d>
                                <m:d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𝑐𝑟𝑠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𝑐𝑜𝑚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=1 : </m:t>
                              </m:r>
                              <m:f>
                                <m:fPr>
                                  <m:type m:val="noBar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𝑐𝑟𝑠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←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𝑆𝑒𝑡𝑢𝑝</m:t>
                                  </m:r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sup>
                                      </m:s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𝑐𝑜𝑚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d>
                                        <m:d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, …,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←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𝐺𝑒𝑛𝐵𝑖𝑡𝑠</m:t>
                                  </m:r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𝑐𝑟𝑠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  <a:p>
                <a:r>
                  <a:rPr lang="en-GB" sz="2000" b="1" dirty="0"/>
                  <a:t>Stat binding</a:t>
                </a:r>
              </a:p>
              <a:p>
                <a:pPr lvl="1"/>
                <a:r>
                  <a:rPr lang="en-GB" sz="1600" b="1" dirty="0"/>
                  <a:t>Output sparsity: </a:t>
                </a:r>
                <a:r>
                  <a:rPr lang="en-GB" sz="1600" dirty="0"/>
                  <a:t>There exists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and a polynomial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such that for every polynomial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there exists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such that 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𝑐𝑟𝑠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in the support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𝑆𝑒𝑡𝑢𝑝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600" dirty="0"/>
                  <a:t>, there exists a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𝑐𝑟𝑠</m:t>
                        </m:r>
                      </m:sup>
                    </m:sSup>
                  </m:oMath>
                </a14:m>
                <a:r>
                  <a:rPr lang="en-GB" sz="1600" dirty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𝒱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𝑐𝑟𝑠</m:t>
                            </m:r>
                          </m:sup>
                        </m:sSup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sup>
                    </m:sSup>
                  </m:oMath>
                </a14:m>
                <a:endParaRPr lang="en-GB" sz="1600" b="1" dirty="0"/>
              </a:p>
              <a:p>
                <a:pPr lvl="1"/>
                <a:r>
                  <a:rPr lang="en-GB" sz="1600" b="1" dirty="0"/>
                  <a:t>Stat binding: </a:t>
                </a:r>
                <a:r>
                  <a:rPr lang="en-GB" sz="1600" dirty="0"/>
                  <a:t>Consider a challenger and a computationally unbounded adversary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GB" sz="1600" b="1" dirty="0"/>
              </a:p>
              <a:p>
                <a:pPr lvl="2"/>
                <a:r>
                  <a:rPr lang="en-GB" sz="1200" dirty="0"/>
                  <a:t>On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200" dirty="0"/>
                  <a:t> outputs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GB" sz="1200" dirty="0"/>
              </a:p>
              <a:p>
                <a:pPr lvl="2"/>
                <a:r>
                  <a:rPr lang="en-GB" sz="1200" dirty="0"/>
                  <a:t>Challenger obtains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𝑆𝑒𝑡𝑢𝑝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dirty="0"/>
                  <a:t> and gives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𝑐𝑟𝑠</m:t>
                    </m:r>
                  </m:oMath>
                </a14:m>
                <a:r>
                  <a:rPr lang="en-GB" sz="1200" dirty="0"/>
                  <a:t> to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GB" sz="1200" dirty="0"/>
              </a:p>
              <a:p>
                <a:pPr lvl="2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200" dirty="0"/>
                  <a:t> outputs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𝑐𝑜𝑚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/>
              </a:p>
              <a:p>
                <a:pPr lvl="2"/>
                <a:r>
                  <a:rPr lang="en-GB" sz="1200" dirty="0"/>
                  <a:t>Experiment outputs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2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∉</m:t>
                    </m:r>
                    <m:sSubSup>
                      <m:sSubSup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𝑐𝑟𝑠</m:t>
                        </m:r>
                      </m:sup>
                    </m:sSubSup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𝑐𝑟𝑠</m:t>
                        </m:r>
                      </m:sup>
                    </m:sSup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1200" dirty="0"/>
                  <a:t> and for all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𝑉𝑒𝑟𝑖𝑓𝑦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𝑐𝑟𝑠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200" dirty="0"/>
                  <a:t>, otherwise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200" b="0" dirty="0"/>
              </a:p>
              <a:p>
                <a:pPr lvl="2"/>
                <a:r>
                  <a:rPr lang="en-GB" sz="1200" dirty="0"/>
                  <a:t>We want for all adversary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𝑛𝑒𝑔𝑙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b="0" dirty="0">
                  <a:ea typeface="Cambria Math" panose="02040503050406030204" pitchFamily="18" charset="0"/>
                </a:endParaRPr>
              </a:p>
              <a:p>
                <a:r>
                  <a:rPr lang="en-GB" sz="2000" b="1" dirty="0"/>
                  <a:t>(Adaptive) Comp hiding</a:t>
                </a:r>
                <a:r>
                  <a:rPr lang="en-GB" sz="2400" b="1" dirty="0"/>
                  <a:t>: </a:t>
                </a:r>
                <a:r>
                  <a:rPr lang="en-GB" sz="2000" dirty="0"/>
                  <a:t>Consider a challenger and a PPT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2000" b="1" dirty="0"/>
                  <a:t> </a:t>
                </a:r>
                <a:r>
                  <a:rPr lang="en-GB" sz="2000" dirty="0"/>
                  <a:t>where given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GB" sz="2000" b="1" dirty="0"/>
              </a:p>
              <a:p>
                <a:pPr lvl="1"/>
                <a:r>
                  <a:rPr lang="en-GB" sz="1400" dirty="0"/>
                  <a:t>On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GB" sz="1400" dirty="0"/>
                  <a:t>, algorithm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400" b="1" dirty="0"/>
                  <a:t> </a:t>
                </a:r>
                <a:r>
                  <a:rPr lang="en-GB" sz="1400" dirty="0"/>
                  <a:t>outputs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GB" sz="1400" dirty="0"/>
              </a:p>
              <a:p>
                <a:pPr lvl="1"/>
                <a:r>
                  <a:rPr lang="en-GB" sz="1400" dirty="0"/>
                  <a:t>Challenger obtains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𝑆𝑒𝑡𝑢𝑝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𝐺𝑒𝑛𝐵𝑖𝑡𝑠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, initialise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GB" sz="1400" dirty="0"/>
                  <a:t> and gives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𝑐𝑜𝑚</m:t>
                    </m:r>
                  </m:oMath>
                </a14:m>
                <a:r>
                  <a:rPr lang="en-GB" sz="1400" dirty="0"/>
                  <a:t> to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 lvl="1"/>
                <a:r>
                  <a:rPr lang="en-GB" sz="1400" dirty="0"/>
                  <a:t>Adversary sends queries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400" dirty="0"/>
                  <a:t>. For each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400" dirty="0"/>
                  <a:t>, challenger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, and add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400" dirty="0"/>
                  <a:t> to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 lvl="1"/>
                <a:r>
                  <a:rPr lang="en-GB" sz="1400" dirty="0"/>
                  <a:t>If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the challenger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</m:acc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/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400" dirty="0"/>
                  <a:t>, the challenger outputs random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1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</m:acc>
                          </m:e>
                        </m:d>
                      </m:sup>
                    </m:sSup>
                  </m:oMath>
                </a14:m>
                <a:endParaRPr lang="en-GB" sz="1400" b="1" dirty="0"/>
              </a:p>
              <a:p>
                <a:pPr lvl="1"/>
                <a:r>
                  <a:rPr lang="en-GB" sz="1400" dirty="0"/>
                  <a:t>Adversary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’∈{0, 1}</m:t>
                    </m:r>
                  </m:oMath>
                </a14:m>
                <a:endParaRPr lang="en-GB" sz="1400" dirty="0"/>
              </a:p>
              <a:p>
                <a:pPr lvl="1"/>
                <a:r>
                  <a:rPr lang="en-GB" sz="1400" dirty="0"/>
                  <a:t>We want for all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’=1|</m:t>
                        </m:r>
                        <m:r>
                          <m:rPr>
                            <m:sty m:val="p"/>
                          </m:r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=1] – </m:t>
                        </m:r>
                        <m:r>
                          <m:rPr>
                            <m:sty m:val="p"/>
                          </m:r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’=1|</m:t>
                        </m:r>
                        <m:r>
                          <m:rPr>
                            <m:sty m:val="p"/>
                          </m:r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=0]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negl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54E95C7-F6B2-9BC7-DD05-44AFB1381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79864"/>
                <a:ext cx="10515600" cy="5913012"/>
              </a:xfrm>
              <a:prstGeom prst="rect">
                <a:avLst/>
              </a:prstGeom>
              <a:blipFill>
                <a:blip r:embed="rId2"/>
                <a:stretch>
                  <a:fillRect l="-603" t="-1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98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CD7E-9A94-EB6F-30E5-C076DCFC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EFBAB-FA40-0E28-13B4-31AFF1E63E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5172307" cy="3582716"/>
              </a:xfrm>
            </p:spPr>
            <p:txBody>
              <a:bodyPr>
                <a:normAutofit/>
              </a:bodyPr>
              <a:lstStyle/>
              <a:p>
                <a:r>
                  <a:rPr lang="en-GB" sz="2000" b="1" dirty="0"/>
                  <a:t>(Adaptive) Comp hiding</a:t>
                </a:r>
                <a:r>
                  <a:rPr lang="en-GB" sz="2400" b="1" dirty="0"/>
                  <a:t>: </a:t>
                </a:r>
                <a:r>
                  <a:rPr lang="en-GB" sz="2000" dirty="0"/>
                  <a:t>Consider a challenger and a PPT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2000" b="1" dirty="0"/>
                  <a:t> </a:t>
                </a:r>
                <a:r>
                  <a:rPr lang="en-GB" sz="2000" dirty="0"/>
                  <a:t>where given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GB" sz="2000" b="1" dirty="0"/>
              </a:p>
              <a:p>
                <a:pPr lvl="1"/>
                <a:r>
                  <a:rPr lang="en-GB" sz="1400" dirty="0"/>
                  <a:t>On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GB" sz="1400" dirty="0"/>
                  <a:t>, algorithm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400" b="1" dirty="0"/>
                  <a:t> </a:t>
                </a:r>
                <a:r>
                  <a:rPr lang="en-GB" sz="1400" dirty="0"/>
                  <a:t>outputs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GB" sz="1400" dirty="0"/>
              </a:p>
              <a:p>
                <a:pPr lvl="1"/>
                <a:r>
                  <a:rPr lang="en-GB" sz="1400" dirty="0"/>
                  <a:t>Challenger obtains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𝑆𝑒𝑡𝑢𝑝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𝐺𝑒𝑛𝐵𝑖𝑡𝑠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, initialise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GB" sz="1400" dirty="0"/>
                  <a:t> and gives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𝑐𝑜𝑚</m:t>
                    </m:r>
                  </m:oMath>
                </a14:m>
                <a:r>
                  <a:rPr lang="en-GB" sz="1400" dirty="0"/>
                  <a:t> to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 lvl="1"/>
                <a:r>
                  <a:rPr lang="en-GB" sz="1400" dirty="0"/>
                  <a:t>Adversary sends queries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400" dirty="0"/>
                  <a:t>. For each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400" dirty="0"/>
                  <a:t>, challenger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, and add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400" dirty="0"/>
                  <a:t> to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 lvl="1"/>
                <a:r>
                  <a:rPr lang="en-GB" sz="1400" dirty="0"/>
                  <a:t>If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the challenger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GB" sz="14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</m:acc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/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400" dirty="0"/>
                  <a:t>, the challenger outputs random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</a:rPr>
                      <m:t>u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</m:acc>
                          </m:e>
                        </m:d>
                      </m:sup>
                    </m:sSup>
                  </m:oMath>
                </a14:m>
                <a:endParaRPr lang="en-GB" sz="1400" b="1" dirty="0"/>
              </a:p>
              <a:p>
                <a:pPr lvl="1"/>
                <a:r>
                  <a:rPr lang="en-GB" sz="1400" dirty="0"/>
                  <a:t>Adversary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’∈{0, 1}</m:t>
                    </m:r>
                  </m:oMath>
                </a14:m>
                <a:endParaRPr lang="en-GB" sz="1400" dirty="0"/>
              </a:p>
              <a:p>
                <a:pPr lvl="1"/>
                <a:r>
                  <a:rPr lang="en-GB" sz="1400" dirty="0"/>
                  <a:t>We want for all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’=1|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=1] – 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’=1|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=0]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negl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EFBAB-FA40-0E28-13B4-31AFF1E63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5172307" cy="3582716"/>
              </a:xfrm>
              <a:blipFill>
                <a:blip r:embed="rId2"/>
                <a:stretch>
                  <a:fillRect l="-1225" t="-2473" b="-13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928277-DD75-BC7B-D377-C1D7B8152621}"/>
                  </a:ext>
                </a:extLst>
              </p:cNvPr>
              <p:cNvSpPr txBox="1"/>
              <p:nvPr/>
            </p:nvSpPr>
            <p:spPr>
              <a:xfrm>
                <a:off x="6300440" y="1825625"/>
                <a:ext cx="4482789" cy="3731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Single Bit hiding</a:t>
                </a:r>
                <a:r>
                  <a:rPr lang="en-GB" sz="2000" dirty="0"/>
                  <a:t>: Consider a challenger and a PPT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2000" b="1" dirty="0"/>
                  <a:t> </a:t>
                </a:r>
                <a:r>
                  <a:rPr lang="en-GB" sz="2000" dirty="0"/>
                  <a:t>where given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On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GB" sz="1400" dirty="0"/>
                  <a:t>, algorithm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400" b="1" dirty="0"/>
                  <a:t> </a:t>
                </a:r>
                <a:r>
                  <a:rPr lang="en-GB" sz="1400" dirty="0"/>
                  <a:t>outputs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Challenger obtains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𝑆𝑒𝑡𝑢𝑝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𝐺𝑒𝑛𝐵𝑖𝑡𝑠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, initialise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GB" sz="1400" dirty="0"/>
                  <a:t> and gives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𝑐𝑜𝑚</m:t>
                    </m:r>
                  </m:oMath>
                </a14:m>
                <a:r>
                  <a:rPr lang="en-GB" sz="1400" dirty="0"/>
                  <a:t> to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Adversary sends index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400" dirty="0"/>
                  <a:t>, the challenger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, for all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If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the challenger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sz="1400" dirty="0"/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400" dirty="0"/>
                  <a:t>, the challenger outputs random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GB" sz="1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GB" sz="1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Adversary outputs </a:t>
                </a:r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400" i="1" smtClean="0">
                        <a:latin typeface="Cambria Math" panose="02040503050406030204" pitchFamily="18" charset="0"/>
                      </a:rPr>
                      <m:t>’∈0,1</m:t>
                    </m:r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We want for all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’=1|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=1] – 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’=1|</m:t>
                        </m:r>
                        <m:r>
                          <m:rPr>
                            <m:sty m:val="p"/>
                          </m:r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=0]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negl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400" dirty="0"/>
              </a:p>
              <a:p>
                <a:endParaRPr lang="en-GB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928277-DD75-BC7B-D377-C1D7B8152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440" y="1825625"/>
                <a:ext cx="4482789" cy="3731086"/>
              </a:xfrm>
              <a:prstGeom prst="rect">
                <a:avLst/>
              </a:prstGeom>
              <a:blipFill>
                <a:blip r:embed="rId3"/>
                <a:stretch>
                  <a:fillRect l="-1412" t="-678" r="-565" b="-50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28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2D29-3CEB-BB46-D02A-74CE7B26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7D70FF8-77FC-2F99-725B-FFEA714D66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79864"/>
                <a:ext cx="10515600" cy="59130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000" b="1" dirty="0"/>
                  <a:t>Correctness:</a:t>
                </a:r>
                <a:r>
                  <a:rPr lang="en-GB" sz="2000" dirty="0"/>
                  <a:t> for 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𝑉𝑒𝑟𝑖𝑓𝑦</m:t>
                              </m:r>
                              <m:d>
                                <m:d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𝑐𝑟𝑠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𝑐𝑜𝑚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=1 : </m:t>
                              </m:r>
                              <m:f>
                                <m:fPr>
                                  <m:type m:val="noBar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𝑐𝑟𝑠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←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𝑆𝑒𝑡𝑢𝑝</m:t>
                                  </m:r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sup>
                                      </m:s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𝑐𝑜𝑚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d>
                                        <m:d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, …,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←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𝐺𝑒𝑛𝐵𝑖𝑡𝑠</m:t>
                                  </m:r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𝑐𝑟𝑠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  <a:p>
                <a:r>
                  <a:rPr lang="en-GB" sz="2000" b="1" dirty="0"/>
                  <a:t>Stat binding</a:t>
                </a:r>
              </a:p>
              <a:p>
                <a:pPr lvl="1"/>
                <a:r>
                  <a:rPr lang="en-GB" sz="1600" b="1" dirty="0"/>
                  <a:t>Output sparsity: </a:t>
                </a:r>
                <a:r>
                  <a:rPr lang="en-GB" sz="1600" dirty="0"/>
                  <a:t>There exists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and a polynomial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such that for every polynomial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there exists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such that 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𝑐𝑟𝑠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in the support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𝑆𝑒𝑡𝑢𝑝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600" dirty="0"/>
                  <a:t>, there exists a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𝑐𝑟𝑠</m:t>
                        </m:r>
                      </m:sup>
                    </m:sSup>
                  </m:oMath>
                </a14:m>
                <a:r>
                  <a:rPr lang="en-GB" sz="1600" dirty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𝒱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𝑐𝑟𝑠</m:t>
                            </m:r>
                          </m:sup>
                        </m:sSup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sup>
                    </m:sSup>
                  </m:oMath>
                </a14:m>
                <a:endParaRPr lang="en-GB" sz="1600" b="1" dirty="0"/>
              </a:p>
              <a:p>
                <a:pPr lvl="1"/>
                <a:r>
                  <a:rPr lang="en-GB" sz="1600" b="1" dirty="0"/>
                  <a:t>Stat binding: </a:t>
                </a:r>
                <a:r>
                  <a:rPr lang="en-GB" sz="1600" dirty="0"/>
                  <a:t>Consider a challenger and a computationally unbounded adversary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GB" sz="1600" b="1" dirty="0"/>
              </a:p>
              <a:p>
                <a:pPr lvl="2"/>
                <a:r>
                  <a:rPr lang="en-GB" sz="1200" dirty="0"/>
                  <a:t>On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200" dirty="0"/>
                  <a:t> outputs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GB" sz="1200" dirty="0"/>
              </a:p>
              <a:p>
                <a:pPr lvl="2"/>
                <a:r>
                  <a:rPr lang="en-GB" sz="1200" dirty="0"/>
                  <a:t>Challenger obtains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𝑆𝑒𝑡𝑢𝑝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dirty="0"/>
                  <a:t> and gives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𝑐𝑟𝑠</m:t>
                    </m:r>
                  </m:oMath>
                </a14:m>
                <a:r>
                  <a:rPr lang="en-GB" sz="1200" dirty="0"/>
                  <a:t> to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GB" sz="1200" dirty="0"/>
              </a:p>
              <a:p>
                <a:pPr lvl="2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200" dirty="0"/>
                  <a:t> outputs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𝑐𝑜𝑚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dirty="0"/>
              </a:p>
              <a:p>
                <a:pPr lvl="2"/>
                <a:r>
                  <a:rPr lang="en-GB" sz="1200" dirty="0"/>
                  <a:t>Experiment outputs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2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∉</m:t>
                    </m:r>
                    <m:sSubSup>
                      <m:sSubSup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𝑐𝑟𝑠</m:t>
                        </m:r>
                      </m:sup>
                    </m:sSubSup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𝒱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𝑐𝑟𝑠</m:t>
                        </m:r>
                      </m:sup>
                    </m:sSup>
                    <m:r>
                      <a:rPr lang="en-GB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1200" dirty="0"/>
                  <a:t> and for all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𝑉𝑒𝑟𝑖𝑓𝑦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𝑐𝑟𝑠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200" dirty="0"/>
                  <a:t>, otherwise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200" b="0" dirty="0"/>
              </a:p>
              <a:p>
                <a:pPr lvl="2"/>
                <a:r>
                  <a:rPr lang="en-GB" sz="1200" dirty="0"/>
                  <a:t>We want for all adversary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𝑛𝑒𝑔𝑙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200" b="0" dirty="0">
                  <a:ea typeface="Cambria Math" panose="02040503050406030204" pitchFamily="18" charset="0"/>
                </a:endParaRPr>
              </a:p>
              <a:p>
                <a:r>
                  <a:rPr lang="en-GB" sz="2000" b="1" dirty="0"/>
                  <a:t>Single Bit hiding</a:t>
                </a:r>
                <a:r>
                  <a:rPr lang="en-GB" sz="2000" dirty="0"/>
                  <a:t>: Consider a challenger and a PPT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2000" b="1" dirty="0"/>
                  <a:t> </a:t>
                </a:r>
                <a:r>
                  <a:rPr lang="en-GB" sz="2000" dirty="0"/>
                  <a:t>where given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GB" sz="2000" dirty="0"/>
              </a:p>
              <a:p>
                <a:pPr marL="742950" lvl="1" indent="-285750"/>
                <a:r>
                  <a:rPr lang="en-GB" sz="1600" dirty="0"/>
                  <a:t>On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GB" sz="1600" dirty="0"/>
                  <a:t>, algorithm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outputs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GB" sz="1600" dirty="0"/>
              </a:p>
              <a:p>
                <a:pPr marL="742950" lvl="1" indent="-285750"/>
                <a:r>
                  <a:rPr lang="en-GB" sz="1600" dirty="0"/>
                  <a:t>Challenger obtains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𝑆𝑒𝑡𝑢𝑝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𝐺𝑒𝑛𝐵𝑖𝑡𝑠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, initialise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GB" sz="1600" dirty="0"/>
                  <a:t> and gives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𝑐𝑜𝑚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742950" lvl="1" indent="-285750"/>
                <a:r>
                  <a:rPr lang="en-GB" sz="1600" dirty="0"/>
                  <a:t>Adversary sends index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dirty="0"/>
                  <a:t>, the challenger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dirty="0"/>
                  <a:t>, 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sz="1600" dirty="0"/>
              </a:p>
              <a:p>
                <a:pPr marL="742950" lvl="1" indent="-285750"/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, the challenger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sz="1600" dirty="0"/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, the challenger outputs random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1600" dirty="0"/>
              </a:p>
              <a:p>
                <a:pPr marL="742950" lvl="1" indent="-285750"/>
                <a:r>
                  <a:rPr lang="en-GB" sz="1600" dirty="0"/>
                  <a:t>Adversary outputs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’∈</m:t>
                    </m:r>
                    <m:r>
                      <m:rPr>
                        <m:lit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1600" dirty="0"/>
              </a:p>
              <a:p>
                <a:pPr marL="742950" lvl="1" indent="-285750"/>
                <a:r>
                  <a:rPr lang="en-GB" sz="1600" dirty="0"/>
                  <a:t>We want for all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’=1|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=1] – 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’=1|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=0]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negl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7D70FF8-77FC-2F99-725B-FFEA714D6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79864"/>
                <a:ext cx="10515600" cy="5913012"/>
              </a:xfrm>
              <a:prstGeom prst="rect">
                <a:avLst/>
              </a:prstGeom>
              <a:blipFill>
                <a:blip r:embed="rId2"/>
                <a:stretch>
                  <a:fillRect l="-603" t="-1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672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BB60F-1D6B-7432-D251-9F885921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DBDBD36D-9B5B-0632-124F-EAEC6746C1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𝑆𝑒𝑡𝑢𝑝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(1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GB" sz="2000" dirty="0"/>
              </a:p>
              <a:p>
                <a:pPr lvl="2"/>
                <a:r>
                  <a:rPr lang="en-GB" sz="1600" dirty="0"/>
                  <a:t>Sample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)←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𝑇𝑟𝑎𝑝𝐺𝑒𝑛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bSup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Sample short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bSup>
                  </m:oMath>
                </a14:m>
                <a:r>
                  <a:rPr lang="en-GB" sz="16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dirty="0"/>
                  <a:t> using </a:t>
                </a:r>
                <a:r>
                  <a:rPr lang="en-GB" sz="1600" dirty="0" err="1"/>
                  <a:t>TrapPreSamp</a:t>
                </a:r>
                <a:r>
                  <a:rPr lang="en-GB" sz="1600" dirty="0"/>
                  <a:t>.</a:t>
                </a:r>
              </a:p>
              <a:p>
                <a:pPr lvl="2"/>
                <a:r>
                  <a:rPr lang="en-GB" sz="1600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bSup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lvl="2"/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</m:oMath>
                </a14:m>
                <a:endParaRPr lang="en-GB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𝐺𝑒𝑛𝐵𝑖𝑡𝑠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𝑐𝑟𝑠</m:t>
                        </m:r>
                      </m:e>
                    </m:d>
                  </m:oMath>
                </a14:m>
                <a:r>
                  <a:rPr lang="en-GB" sz="2000" dirty="0"/>
                  <a:t>:</a:t>
                </a:r>
              </a:p>
              <a:p>
                <a:pPr lvl="2"/>
                <a:r>
                  <a:rPr lang="en-GB" sz="1600" dirty="0"/>
                  <a:t>Sample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com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GB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𝑉𝑒𝑟𝑖𝑓𝑦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𝑐𝑟𝑠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GB" sz="2000" dirty="0"/>
                  <a:t>:</a:t>
                </a:r>
              </a:p>
              <a:p>
                <a:pPr lvl="2"/>
                <a:r>
                  <a:rPr lang="en-GB" sz="1600" dirty="0"/>
                  <a:t>Check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𝑐𝑜𝑚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Check if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GB" sz="16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𝑇𝑒𝑠𝑡𝑏𝑜𝑢𝑛𝑑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Check if </a:t>
                </a:r>
                <a14:m>
                  <m:oMath xmlns:m="http://schemas.openxmlformats.org/officeDocument/2006/math"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𝑅𝑜𝑢𝑛𝑑𝑖𝑛𝑔𝐵𝑜𝑢𝑛𝑑</m:t>
                        </m:r>
                      </m:e>
                    </m:d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–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𝑅𝑜𝑢𝑛𝑑𝑖𝑛𝑔𝐵𝑜𝑢𝑛𝑑</m:t>
                        </m:r>
                      </m:e>
                    </m:d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1600" dirty="0"/>
                  <a:t> if all tests hold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1600" dirty="0"/>
                  <a:t> otherwise.</a:t>
                </a: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DBDBD36D-9B5B-0632-124F-EAEC6746C1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t="-872" b="-14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F88CB-9E91-ED9D-64B1-15D7FF124C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50767" y="502617"/>
                <a:ext cx="3012687" cy="14172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sup>
                              </m:s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prime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λmk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γ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∈(0, 0.5)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1.1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=2(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+1) 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TestBound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LB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RoundingBound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GB" sz="1600" i="1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 ⋅</m:t>
                              </m:r>
                              <m:r>
                                <m:rPr>
                                  <m:sty m:val="p"/>
                                </m:r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Testbound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F88CB-9E91-ED9D-64B1-15D7FF124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767" y="502617"/>
                <a:ext cx="3012687" cy="1417251"/>
              </a:xfrm>
              <a:prstGeom prst="rect">
                <a:avLst/>
              </a:prstGeom>
              <a:blipFill>
                <a:blip r:embed="rId3"/>
                <a:stretch>
                  <a:fillRect t="-2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3593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2BB7-2DE1-96A0-68D3-7042837A0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4A63AD8-F371-0887-C96F-D86398AD7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58970"/>
              </a:xfrm>
            </p:spPr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𝑆𝑒𝑡𝑢𝑝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(1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GB" sz="2000" dirty="0"/>
              </a:p>
              <a:p>
                <a:pPr lvl="2"/>
                <a:r>
                  <a:rPr lang="en-GB" sz="1600" dirty="0"/>
                  <a:t>Same as usual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𝐺𝑒𝑛𝐵𝑖𝑡𝑠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𝑐𝑟𝑠</m:t>
                        </m:r>
                      </m:e>
                    </m:d>
                  </m:oMath>
                </a14:m>
                <a:r>
                  <a:rPr lang="en-GB" sz="2000" dirty="0"/>
                  <a:t>:</a:t>
                </a:r>
              </a:p>
              <a:p>
                <a:pPr lvl="2"/>
                <a:r>
                  <a:rPr lang="en-GB" sz="1600" dirty="0"/>
                  <a:t>Run the old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GenBits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crs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dirty="0"/>
                  <a:t> run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𝑉𝑒𝑟𝑖𝑓𝑦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𝑐𝑟𝑠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600" dirty="0"/>
                  <a:t>.</a:t>
                </a:r>
              </a:p>
              <a:p>
                <a:pPr lvl="3"/>
                <a:r>
                  <a:rPr lang="en-GB" sz="1400" dirty="0"/>
                  <a:t>If all passes, we are good</a:t>
                </a:r>
              </a:p>
              <a:p>
                <a:pPr lvl="3"/>
                <a:r>
                  <a:rPr lang="en-GB" sz="1400" dirty="0"/>
                  <a:t>If not, set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𝑐𝑜𝑚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=⊥,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1400" b="1" i="1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endParaRPr lang="en-GB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𝑉𝑒𝑟𝑖𝑓𝑦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𝑐𝑟𝑠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GB" sz="2000" dirty="0"/>
                  <a:t>:</a:t>
                </a:r>
              </a:p>
              <a:p>
                <a:pPr lvl="2"/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com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≠⊥</m:t>
                    </m:r>
                  </m:oMath>
                </a14:m>
                <a:r>
                  <a:rPr lang="en-GB" sz="1600" dirty="0"/>
                  <a:t>, same as usual</a:t>
                </a:r>
              </a:p>
              <a:p>
                <a:pPr lvl="2"/>
                <a:r>
                  <a:rPr lang="en-GB" sz="1600" dirty="0"/>
                  <a:t>If not, accepts only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4A63AD8-F371-0887-C96F-D86398AD7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58970"/>
              </a:xfrm>
              <a:blipFill>
                <a:blip r:embed="rId2"/>
                <a:stretch>
                  <a:fillRect t="-12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53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9B56-9BC3-8B6D-4495-79D1C65C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A93D61C-9C5C-3DF9-06C9-6E4BE0AE8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𝑆𝑒𝑡𝑢𝑝</m:t>
                        </m:r>
                        <m:r>
                          <m:rPr>
                            <m:sty m:val="p"/>
                          </m:rPr>
                          <a:rPr lang="en-GB" sz="2000" b="0" i="1" smtClean="0">
                            <a:latin typeface="Cambria Math" panose="02040503050406030204" pitchFamily="18" charset="0"/>
                          </a:rPr>
                          <m:t>Hiding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(1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GB" sz="2000" dirty="0"/>
              </a:p>
              <a:p>
                <a:pPr lvl="2"/>
                <a:r>
                  <a:rPr lang="en-GB" sz="1600" dirty="0"/>
                  <a:t>Sample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)←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𝑇𝑟𝑎𝑝𝐺𝑒𝑛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bSup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Parse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’=</m:t>
                    </m:r>
                    <m:d>
                      <m:dPr>
                        <m:begChr m:val="["/>
                        <m:endChr m:val="]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b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’=</m:t>
                    </m:r>
                    <m:d>
                      <m:dPr>
                        <m:begChr m:val="["/>
                        <m:endChr m:val="]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Sample short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bSup>
                  </m:oMath>
                </a14:m>
                <a:r>
                  <a:rPr lang="en-GB" sz="16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’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dirty="0"/>
                  <a:t> using </a:t>
                </a:r>
                <a:r>
                  <a:rPr lang="en-GB" sz="1600" dirty="0" err="1"/>
                  <a:t>TrapPreSamp</a:t>
                </a:r>
                <a:r>
                  <a:rPr lang="en-GB" sz="1600" dirty="0"/>
                  <a:t>.</a:t>
                </a:r>
              </a:p>
              <a:p>
                <a:pPr lvl="2"/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</m:oMath>
                </a14:m>
                <a:endParaRPr lang="en-GB" sz="160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A93D61C-9C5C-3DF9-06C9-6E4BE0AE8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028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0E514-1BE7-20C2-F3D7-C289FDE1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C7E7-C137-3841-B80B-0F12DB667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CFEF5DF-7A69-FC40-520A-8F247940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7907" y="1825625"/>
                <a:ext cx="5257800" cy="1831975"/>
              </a:xfrm>
            </p:spPr>
            <p:txBody>
              <a:bodyPr/>
              <a:lstStyle/>
              <a:p>
                <a:pPr lvl="1"/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𝐺𝑒𝑛𝐵𝑖𝑡𝑠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𝑐𝑟𝑠</m:t>
                        </m:r>
                      </m:e>
                    </m:d>
                  </m:oMath>
                </a14:m>
                <a:r>
                  <a:rPr lang="en-GB" sz="2000" dirty="0"/>
                  <a:t>:</a:t>
                </a:r>
              </a:p>
              <a:p>
                <a:pPr lvl="2"/>
                <a:r>
                  <a:rPr lang="en-GB" sz="1600" dirty="0"/>
                  <a:t>Sample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com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U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GB" sz="1600" dirty="0"/>
              </a:p>
              <a:p>
                <a:pPr lvl="2"/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GB" sz="16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CFEF5DF-7A69-FC40-520A-8F247940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907" y="1825625"/>
                <a:ext cx="5257800" cy="1831975"/>
              </a:xfrm>
              <a:blipFill>
                <a:blip r:embed="rId2"/>
                <a:stretch>
                  <a:fillRect t="-27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AB8F79-3E18-608B-28EB-EB05308DE700}"/>
                  </a:ext>
                </a:extLst>
              </p:cNvPr>
              <p:cNvSpPr txBox="1"/>
              <p:nvPr/>
            </p:nvSpPr>
            <p:spPr>
              <a:xfrm>
                <a:off x="5118410" y="1825625"/>
                <a:ext cx="6235390" cy="1725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𝐺𝑒𝑛𝐵𝑖𝑡𝑠</m:t>
                    </m:r>
                    <m:r>
                      <m:rPr>
                        <m:sty m:val="p"/>
                      </m:rPr>
                      <a:rPr lang="en-GB" sz="2000" i="1">
                        <a:latin typeface="Cambria Math" panose="02040503050406030204" pitchFamily="18" charset="0"/>
                      </a:rPr>
                      <m:t>Hiding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𝑐𝑟𝑠</m:t>
                        </m:r>
                      </m:e>
                    </m:d>
                  </m:oMath>
                </a14:m>
                <a:r>
                  <a:rPr lang="en-GB" sz="2000" dirty="0"/>
                  <a:t>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Sample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δc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com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U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δc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AB8F79-3E18-608B-28EB-EB05308DE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410" y="1825625"/>
                <a:ext cx="6235390" cy="1725472"/>
              </a:xfrm>
              <a:prstGeom prst="rect">
                <a:avLst/>
              </a:prstGeom>
              <a:blipFill>
                <a:blip r:embed="rId3"/>
                <a:stretch>
                  <a:fillRect t="-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58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9DF5C-FD94-8276-61BB-EBABD3CC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97B5-EE2A-9170-2F4D-82C60D58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45D28A-4EA5-2CA4-BC2F-D7CD8A0181AB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10357624" cy="5475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GB" sz="20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𝑆𝑒𝑡𝑢𝑝</m:t>
                        </m:r>
                        <m:r>
                          <m:rPr>
                            <m:sty m:val="p"/>
                          </m:rPr>
                          <a:rPr lang="en-GB" sz="2000" i="1">
                            <a:latin typeface="Cambria Math" panose="02040503050406030204" pitchFamily="18" charset="0"/>
                          </a:rPr>
                          <m:t>Hiding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(1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GB" sz="20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Sample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)←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𝑇𝑟𝑎𝑝𝐺𝑒𝑛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bSup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Parse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’=</m:t>
                    </m:r>
                    <m:d>
                      <m:dPr>
                        <m:begChr m:val="["/>
                        <m:endChr m:val="]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bSup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’=</m:t>
                    </m:r>
                    <m:d>
                      <m:dPr>
                        <m:begChr m:val="["/>
                        <m:endChr m:val="]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GB" sz="16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Sample short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L</m:t>
                        </m:r>
                      </m:sup>
                    </m:sSubSup>
                  </m:oMath>
                </a14:m>
                <a:r>
                  <a:rPr lang="en-GB" sz="16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’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dirty="0"/>
                  <a:t> using </a:t>
                </a:r>
                <a:r>
                  <a:rPr lang="en-GB" sz="1600" dirty="0" err="1"/>
                  <a:t>TrapPreSamp</a:t>
                </a:r>
                <a:r>
                  <a:rPr lang="en-GB" sz="1600" dirty="0"/>
                  <a:t>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𝑐𝑟𝑠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𝐺𝑒𝑛𝐵𝑖𝑡𝑠</m:t>
                    </m:r>
                    <m:r>
                      <m:rPr>
                        <m:sty m:val="p"/>
                      </m:rPr>
                      <a:rPr lang="en-GB" sz="2000" i="1">
                        <a:latin typeface="Cambria Math" panose="02040503050406030204" pitchFamily="18" charset="0"/>
                      </a:rPr>
                      <m:t>Hiding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𝑐𝑟𝑠</m:t>
                        </m:r>
                      </m:e>
                    </m:d>
                  </m:oMath>
                </a14:m>
                <a:r>
                  <a:rPr lang="en-GB" sz="2000" dirty="0"/>
                  <a:t>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Sample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δc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∈[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com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U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1600" i="1">
                        <a:latin typeface="Cambria Math" panose="02040503050406030204" pitchFamily="18" charset="0"/>
                      </a:rPr>
                      <m:t>δc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𝑉𝑒𝑟𝑖𝑓𝑦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𝑐𝑟𝑠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𝑐𝑜𝑚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GB" sz="2000" dirty="0"/>
                  <a:t>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Check 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𝑐𝑜𝑚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Check if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GB" sz="16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GB" sz="16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𝑇𝑒𝑠𝑡𝑏𝑜𝑢𝑛𝑑</m:t>
                    </m:r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Check if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𝑅𝑜𝑢𝑛𝑑𝑖𝑛𝑔𝐵𝑜𝑢𝑛𝑑</m:t>
                        </m:r>
                      </m:e>
                    </m:d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⌉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–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𝑅𝑜𝑢𝑛𝑑𝑖𝑛𝑔𝐵𝑜𝑢𝑛𝑑</m:t>
                        </m:r>
                      </m:e>
                    </m:d>
                  </m:oMath>
                </a14:m>
                <a:endParaRPr lang="en-GB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Output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1600" dirty="0"/>
                  <a:t> if all tests hold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1600" dirty="0"/>
                  <a:t> otherwise.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45D28A-4EA5-2CA4-BC2F-D7CD8A018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357624" cy="5475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766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1464</Words>
  <Application>Microsoft Macintosh PowerPoint</Application>
  <PresentationFormat>Widescreen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He (DCSPD-Y13)</dc:creator>
  <cp:lastModifiedBy>William He (DCSPD-Y13)</cp:lastModifiedBy>
  <cp:revision>7</cp:revision>
  <dcterms:created xsi:type="dcterms:W3CDTF">2025-12-01T20:43:44Z</dcterms:created>
  <dcterms:modified xsi:type="dcterms:W3CDTF">2025-12-02T00:15:20Z</dcterms:modified>
</cp:coreProperties>
</file>